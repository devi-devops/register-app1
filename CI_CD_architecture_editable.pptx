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9784080" cy="4114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2A2A2A"/>
                </a:solidFill>
                <a:latin typeface="Arial"/>
              </a:rPr>
              <a:t>CI/CD architecture: DP commit and manual CHANGE_TRIGGER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965960" y="941832"/>
            <a:ext cx="2816352" cy="950976"/>
          </a:xfrm>
          <a:prstGeom prst="rect">
            <a:avLst/>
          </a:prstGeom>
          <a:noFill/>
          <a:ln w="13970">
            <a:solidFill>
              <a:srgbClr val="AFAF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71800" y="987552"/>
            <a:ext cx="777240" cy="25603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A2A2A"/>
                </a:solidFill>
                <a:latin typeface="Arial"/>
              </a:rPr>
              <a:t>GitLab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" y="1271016"/>
            <a:ext cx="932688" cy="521207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822960" cy="4663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A2A2A"/>
                </a:solidFill>
                <a:latin typeface="Arial"/>
              </a:rPr>
              <a:t>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9696" y="1298448"/>
            <a:ext cx="1143000" cy="438912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325880"/>
            <a:ext cx="1033271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A2A2A"/>
                </a:solidFill>
                <a:latin typeface="Arial"/>
              </a:rPr>
              <a:t>DP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1298448"/>
            <a:ext cx="1161288" cy="438912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325880"/>
            <a:ext cx="105156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Trigger
key: sbd-deploy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35024" y="1536192"/>
            <a:ext cx="804672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35024" y="1344168"/>
            <a:ext cx="804672" cy="21945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A2A2A"/>
                </a:solidFill>
                <a:latin typeface="Arial"/>
              </a:rPr>
              <a:t>DP commit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2696" y="1536192"/>
            <a:ext cx="201168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3192" y="2212848"/>
            <a:ext cx="4471416" cy="3968496"/>
          </a:xfrm>
          <a:prstGeom prst="rect">
            <a:avLst/>
          </a:prstGeom>
          <a:noFill/>
          <a:ln w="13970">
            <a:solidFill>
              <a:srgbClr val="AFAF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249424"/>
            <a:ext cx="713232" cy="24688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A2A2A"/>
                </a:solidFill>
                <a:latin typeface="Arial"/>
              </a:rPr>
              <a:t>Jenkins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1792224"/>
            <a:ext cx="0" cy="877824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1901952"/>
            <a:ext cx="749808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2A2A2A"/>
                </a:solidFill>
                <a:latin typeface="Arial"/>
              </a:rPr>
              <a:t>CHANGE_ID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24328"/>
            <a:ext cx="1801368" cy="521207"/>
          </a:xfrm>
          <a:prstGeom prst="roundRect">
            <a:avLst/>
          </a:prstGeom>
          <a:solidFill>
            <a:srgbClr val="D9FFCC"/>
          </a:solidFill>
          <a:ln w="15240">
            <a:solidFill>
              <a:srgbClr val="5CA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2651760"/>
            <a:ext cx="1691640" cy="4663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CHANGE_TRIGGER
calls getChangeDetails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53896" y="3145536"/>
            <a:ext cx="0" cy="301752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80" y="1737360"/>
            <a:ext cx="0" cy="1709928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72968" y="2624328"/>
            <a:ext cx="1801368" cy="521207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7832" y="2651760"/>
            <a:ext cx="1691640" cy="46634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ETL-release
calls getTriggerDetails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47288"/>
            <a:ext cx="4261104" cy="566928"/>
          </a:xfrm>
          <a:prstGeom prst="roundRect">
            <a:avLst/>
          </a:prstGeom>
          <a:solidFill>
            <a:srgbClr val="FFEFCF"/>
          </a:solidFill>
          <a:ln w="15240">
            <a:solidFill>
              <a:srgbClr val="B2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3" y="3474720"/>
            <a:ext cx="4151376" cy="51206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cicd-trigger.ps1
Shared ProcessDeploymentPlan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80"/>
            <a:ext cx="1801368" cy="384048"/>
          </a:xfrm>
          <a:prstGeom prst="roundRect">
            <a:avLst/>
          </a:prstGeom>
          <a:solidFill>
            <a:srgbClr val="FFEDED"/>
          </a:solidFill>
          <a:ln w="15240">
            <a:solidFill>
              <a:srgbClr val="C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3" y="4325112"/>
            <a:ext cx="169164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A2A2A"/>
                </a:solidFill>
                <a:latin typeface="Arial"/>
              </a:rPr>
              <a:t>MANUAL_PROMOTION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53896" y="3931920"/>
            <a:ext cx="0" cy="3657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4764024"/>
            <a:ext cx="1801368" cy="384048"/>
          </a:xfrm>
          <a:prstGeom prst="roundRect">
            <a:avLst/>
          </a:prstGeom>
          <a:solidFill>
            <a:srgbClr val="FFEDED"/>
          </a:solidFill>
          <a:ln w="15240">
            <a:solidFill>
              <a:srgbClr val="C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3" y="4791456"/>
            <a:ext cx="169164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A2A2A"/>
                </a:solidFill>
                <a:latin typeface="Arial"/>
              </a:rPr>
              <a:t>candidates.json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53896" y="4681728"/>
            <a:ext cx="0" cy="82296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8640" y="5303520"/>
            <a:ext cx="1801368" cy="384048"/>
          </a:xfrm>
          <a:prstGeom prst="roundRect">
            <a:avLst/>
          </a:prstGeom>
          <a:solidFill>
            <a:srgbClr val="FFEDED"/>
          </a:solidFill>
          <a:ln w="15240">
            <a:solidFill>
              <a:srgbClr val="C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3" y="5330952"/>
            <a:ext cx="169164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2A2A2A"/>
                </a:solidFill>
                <a:latin typeface="Arial"/>
              </a:rPr>
              <a:t>REFRESH_CANDIDATES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53896" y="5148072"/>
            <a:ext cx="0" cy="155448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172968" y="4187952"/>
            <a:ext cx="1801368" cy="384048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7832" y="4215384"/>
            <a:ext cx="169164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Listener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72968" y="4965192"/>
            <a:ext cx="1801368" cy="384048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4992624"/>
            <a:ext cx="169164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Notifications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72968" y="5486400"/>
            <a:ext cx="1801368" cy="384048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27832" y="5513832"/>
            <a:ext cx="169164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Status Tracker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72968" y="5998464"/>
            <a:ext cx="1801368" cy="384048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27832" y="6025896"/>
            <a:ext cx="169164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2A2A2A"/>
                </a:solidFill>
                <a:latin typeface="Arial"/>
              </a:rPr>
              <a:t>MODEL_RELEASE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2734056"/>
            <a:ext cx="1673352" cy="1545336"/>
          </a:xfrm>
          <a:prstGeom prst="rect">
            <a:avLst/>
          </a:prstGeom>
          <a:noFill/>
          <a:ln w="13970">
            <a:solidFill>
              <a:srgbClr val="AFAF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2807208"/>
            <a:ext cx="105156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2A2A2A"/>
                </a:solidFill>
                <a:latin typeface="Arial"/>
              </a:rPr>
              <a:t>MySQL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94376" y="3026664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2A2A2A"/>
                </a:solidFill>
                <a:latin typeface="Arial"/>
              </a:rPr>
              <a:t>devops_build_queue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93792" y="3337560"/>
            <a:ext cx="1444752" cy="457200"/>
          </a:xfrm>
          <a:prstGeom prst="roundRect">
            <a:avLst/>
          </a:prstGeom>
          <a:solidFill>
            <a:srgbClr val="FFEFCF"/>
          </a:solidFill>
          <a:ln w="15240">
            <a:solidFill>
              <a:srgbClr val="B2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48655" y="3364991"/>
            <a:ext cx="1335024" cy="4023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2A2A2A"/>
                </a:solidFill>
                <a:latin typeface="Arial"/>
              </a:rPr>
              <a:t>cicd_builds
+ trigger columns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93792" y="3849624"/>
            <a:ext cx="1444752" cy="356616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48655" y="3877056"/>
            <a:ext cx="1335024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A2A2A"/>
                </a:solidFill>
                <a:latin typeface="Arial"/>
              </a:rPr>
              <a:t>params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93792" y="4224528"/>
            <a:ext cx="1444752" cy="356616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48655" y="4251960"/>
            <a:ext cx="1335024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2A2A2A"/>
                </a:solidFill>
                <a:latin typeface="Arial"/>
              </a:rPr>
              <a:t>notifications_queue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93792" y="4599432"/>
            <a:ext cx="1444752" cy="356616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8655" y="4626864"/>
            <a:ext cx="1335024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A2A2A"/>
                </a:solidFill>
                <a:latin typeface="Arial"/>
              </a:rPr>
              <a:t>notifications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93792" y="4974336"/>
            <a:ext cx="1444752" cy="356616"/>
          </a:xfrm>
          <a:prstGeom prst="roundRect">
            <a:avLst/>
          </a:prstGeom>
          <a:solidFill>
            <a:srgbClr val="EEEEEE"/>
          </a:solidFill>
          <a:ln w="15240">
            <a:solidFill>
              <a:srgbClr val="AFAF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48655" y="5001768"/>
            <a:ext cx="1335024" cy="30175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A2A2A"/>
                </a:solidFill>
                <a:latin typeface="Arial"/>
              </a:rPr>
              <a:t>build_history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4809744" y="3575304"/>
            <a:ext cx="384048" cy="155448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809744" y="4023360"/>
            <a:ext cx="384048" cy="356616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809744" y="4764024"/>
            <a:ext cx="384048" cy="393192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09744" y="5148072"/>
            <a:ext cx="384048" cy="530352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809744" y="3730752"/>
            <a:ext cx="210312" cy="0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020056" y="3730752"/>
            <a:ext cx="0" cy="676656"/>
          </a:xfrm>
          <a:prstGeom prst="line">
            <a:avLst/>
          </a:prstGeom>
          <a:ln w="2286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717536" y="932688"/>
            <a:ext cx="3794760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A2A2A"/>
                </a:solidFill>
                <a:latin typeface="Arial"/>
              </a:rPr>
              <a:t>Two entry points, one engine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08392" y="1344168"/>
            <a:ext cx="1828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Arial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46136" y="1335024"/>
            <a:ext cx="3611880" cy="5852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40" b="1">
                <a:solidFill>
                  <a:srgbClr val="2A2A2A"/>
                </a:solidFill>
                <a:latin typeface="Arial"/>
              </a:rPr>
              <a:t>DP changed: commit with sbd-deploy key, GitLab
trigger starts the ETL-release job, which calls
getTriggerDetails.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8392" y="2121408"/>
            <a:ext cx="1828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Arial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46136" y="2112264"/>
            <a:ext cx="3611880" cy="5852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40" b="1">
                <a:solidFill>
                  <a:srgbClr val="2A2A2A"/>
                </a:solidFill>
                <a:latin typeface="Arial"/>
              </a:rPr>
              <a:t>No DP change: user runs CHANGE_TRIGGER
with a CHANGE_ID, which calls getChangeDetails.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08392" y="2898648"/>
            <a:ext cx="1828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Arial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46136" y="2889504"/>
            <a:ext cx="3611880" cy="5852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40" b="1">
                <a:solidFill>
                  <a:srgbClr val="2A2A2A"/>
                </a:solidFill>
                <a:latin typeface="Arial"/>
              </a:rPr>
              <a:t>Both functions call the same ProcessDeploymentPlan,
so validation, DB writes and notifications are identical.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08392" y="3675887"/>
            <a:ext cx="1828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Arial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46136" y="3666744"/>
            <a:ext cx="3611880" cy="5852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40" b="1">
                <a:solidFill>
                  <a:srgbClr val="2A2A2A"/>
                </a:solidFill>
                <a:latin typeface="Arial"/>
              </a:rPr>
              <a:t>cicd_builds gets trigger_type and triggered_by
columns.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08392" y="4453127"/>
            <a:ext cx="18288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Arial"/>
              </a:rP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46136" y="4443983"/>
            <a:ext cx="3611880" cy="5852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40" b="1">
                <a:solidFill>
                  <a:srgbClr val="2A2A2A"/>
                </a:solidFill>
                <a:latin typeface="Arial"/>
              </a:rPr>
              <a:t>Manual promotion, candidates.json and refresh are sunset.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03504" y="6437376"/>
            <a:ext cx="146304" cy="146304"/>
          </a:xfrm>
          <a:prstGeom prst="roundRect">
            <a:avLst/>
          </a:prstGeom>
          <a:solidFill>
            <a:srgbClr val="D9FFCC"/>
          </a:solidFill>
          <a:ln w="13970">
            <a:solidFill>
              <a:srgbClr val="5CA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4672" y="6419088"/>
            <a:ext cx="56692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1">
                <a:solidFill>
                  <a:srgbClr val="2A2A2A"/>
                </a:solidFill>
                <a:latin typeface="Arial"/>
              </a:rPr>
              <a:t>New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25880" y="6437376"/>
            <a:ext cx="146304" cy="146304"/>
          </a:xfrm>
          <a:prstGeom prst="roundRect">
            <a:avLst/>
          </a:prstGeom>
          <a:solidFill>
            <a:srgbClr val="FFEFCF"/>
          </a:solidFill>
          <a:ln w="13970">
            <a:solidFill>
              <a:srgbClr val="B2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27048" y="6419088"/>
            <a:ext cx="56692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1">
                <a:solidFill>
                  <a:srgbClr val="2A2A2A"/>
                </a:solidFill>
                <a:latin typeface="Arial"/>
              </a:rPr>
              <a:t>Enhance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68296" y="6437376"/>
            <a:ext cx="146304" cy="146304"/>
          </a:xfrm>
          <a:prstGeom prst="roundRect">
            <a:avLst/>
          </a:prstGeom>
          <a:solidFill>
            <a:srgbClr val="EEEEEE"/>
          </a:solidFill>
          <a:ln w="1397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69464" y="6419088"/>
            <a:ext cx="56692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1">
                <a:solidFill>
                  <a:srgbClr val="2A2A2A"/>
                </a:solidFill>
                <a:latin typeface="Arial"/>
              </a:rPr>
              <a:t>Existing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401568" y="6437376"/>
            <a:ext cx="146304" cy="146304"/>
          </a:xfrm>
          <a:prstGeom prst="roundRect">
            <a:avLst/>
          </a:prstGeom>
          <a:solidFill>
            <a:srgbClr val="FFEDED"/>
          </a:solidFill>
          <a:ln w="13970">
            <a:solidFill>
              <a:srgbClr val="C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02736" y="6419088"/>
            <a:ext cx="566928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880" b="1">
                <a:solidFill>
                  <a:srgbClr val="2A2A2A"/>
                </a:solidFill>
                <a:latin typeface="Arial"/>
              </a:rPr>
              <a:t>Sunset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