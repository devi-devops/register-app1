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JetBrains Mono"/>
      <ns0:bold ns1:id="rIdFont12"/>
      <ns0:regular ns1:id="rIdFont13"/>
    </ns0:embeddedFont>
    <ns0:embeddedFont>
      <ns0:font typeface="Inter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5fdaedc7-b3fa-44ac-8dae-a6812b493bb9.fntdata" /><ns0:Relationship Id="rIdFont13" Type="http://schemas.openxmlformats.org/officeDocument/2006/relationships/font" Target="fonts/e9e72157-1e8e-4d7c-8fef-4deb75477a72.fntdata" /><ns0:Relationship Id="rIdFont14" Type="http://schemas.openxmlformats.org/officeDocument/2006/relationships/font" Target="fonts/736c5345-cd43-4f80-890b-d892be7a75ad.fntdata" /><ns0:Relationship Id="rIdFont15" Type="http://schemas.openxmlformats.org/officeDocument/2006/relationships/font" Target="fonts/05c0d967-618e-4e65-9805-c00ca5bff57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53125"/>
            <a:ext cx="109728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71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9531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286101"/>
            <a:ext cx="1238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5" y="4286101"/>
            <a:ext cx="1809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4286101"/>
            <a:ext cx="123825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533400"/>
            <a:ext cx="2893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DEVOPS PLATFORM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09948"/>
            <a:ext cx="9701212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450" i="0" u="none">
                <a:solidFill>
                  <a:srgbClr val="F8FAFC"/>
                </a:solidFill>
                <a:latin typeface="Inter"/>
              </a:rPr>
              <a:t>CI/CD Architecture: DP Commit &amp; Manual CHANGE_TRIGGER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13670"/>
            <a:ext cx="7905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Unified execution engine supporting automated repository pushes and manual change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162675"/>
            <a:ext cx="4179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Technical Architecture &amp; Pipeline Modernization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6153150"/>
            <a:ext cx="2190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v2.4 Production Rollout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267051"/>
            <a:ext cx="1476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GitLab Webhooks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500" y="4267051"/>
            <a:ext cx="195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Jenkins Shared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7225" y="4267051"/>
            <a:ext cx="2405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MySQL devops_build_queue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58225" y="342900"/>
            <a:ext cx="3076575" cy="314325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90655" y="1034355"/>
            <a:ext cx="4344144" cy="5480744"/>
          </a:xfrm>
          <a:prstGeom prst="roundRect">
            <a:avLst>
              <a:gd name="adj" fmla="val 2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0680" y="5781675"/>
            <a:ext cx="3944094" cy="495300"/>
          </a:xfrm>
          <a:prstGeom prst="roundRect">
            <a:avLst>
              <a:gd name="adj" fmla="val 15384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0150" y="433387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0700" y="433387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20325" y="433387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001375" y="433387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FEF2F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201042"/>
            <a:ext cx="952500" cy="409575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6975" y="1034355"/>
            <a:ext cx="4695080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891605"/>
            <a:ext cx="3951684" cy="4623494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2234" y="1891605"/>
            <a:ext cx="2619821" cy="4623494"/>
          </a:xfrm>
          <a:prstGeom prst="roundRect">
            <a:avLst>
              <a:gd name="adj" fmla="val 2908"/>
            </a:avLst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0075" y="2710755"/>
            <a:ext cx="3665934" cy="485775"/>
          </a:xfrm>
          <a:prstGeom prst="roundRect">
            <a:avLst>
              <a:gd name="adj" fmla="val 11764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6059" y="2310705"/>
            <a:ext cx="2372171" cy="419100"/>
          </a:xfrm>
          <a:prstGeom prst="roundRect">
            <a:avLst>
              <a:gd name="adj" fmla="val 11363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6059" y="2786955"/>
            <a:ext cx="2372171" cy="24765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6059" y="3091755"/>
            <a:ext cx="2372171" cy="24765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6059" y="3396555"/>
            <a:ext cx="2372171" cy="24765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6059" y="3701355"/>
            <a:ext cx="2372171" cy="24765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09850" y="1353442"/>
            <a:ext cx="1800373" cy="276225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3123" y="1291530"/>
            <a:ext cx="2266057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0075" y="2205930"/>
            <a:ext cx="1785342" cy="428625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99717" y="2205930"/>
            <a:ext cx="1766292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90680" y="169158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90680" y="2175271"/>
            <a:ext cx="57150" cy="571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90680" y="2658963"/>
            <a:ext cx="57150" cy="571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90680" y="3132236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90680" y="3431232"/>
            <a:ext cx="57150" cy="571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0075" y="3272730"/>
            <a:ext cx="1775817" cy="247650"/>
          </a:xfrm>
          <a:prstGeom prst="roundRect">
            <a:avLst>
              <a:gd name="adj" fmla="val 19230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0075" y="3710880"/>
            <a:ext cx="1775817" cy="247650"/>
          </a:xfrm>
          <a:prstGeom prst="roundRect">
            <a:avLst>
              <a:gd name="adj" fmla="val 19230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0075" y="4149030"/>
            <a:ext cx="1775817" cy="247650"/>
          </a:xfrm>
          <a:prstGeom prst="roundRect">
            <a:avLst>
              <a:gd name="adj" fmla="val 19230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90192" y="3272730"/>
            <a:ext cx="1775817" cy="247650"/>
          </a:xfrm>
          <a:prstGeom prst="roundRect">
            <a:avLst>
              <a:gd name="adj" fmla="val 1923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490192" y="3568005"/>
            <a:ext cx="1775817" cy="247650"/>
          </a:xfrm>
          <a:prstGeom prst="roundRect">
            <a:avLst>
              <a:gd name="adj" fmla="val 1923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490192" y="3863280"/>
            <a:ext cx="1775817" cy="247650"/>
          </a:xfrm>
          <a:prstGeom prst="roundRect">
            <a:avLst>
              <a:gd name="adj" fmla="val 1923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490192" y="4158555"/>
            <a:ext cx="1775817" cy="247650"/>
          </a:xfrm>
          <a:prstGeom prst="roundRect">
            <a:avLst>
              <a:gd name="adj" fmla="val 1923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86130" y="1634430"/>
            <a:ext cx="742950" cy="17145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57605" y="1819126"/>
            <a:ext cx="1209675" cy="17145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76605" y="2118121"/>
            <a:ext cx="1009650" cy="17145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714880" y="2118121"/>
            <a:ext cx="676275" cy="17145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28880" y="2302817"/>
            <a:ext cx="1143000" cy="17145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743080" y="3075086"/>
            <a:ext cx="809625" cy="171450"/>
          </a:xfrm>
          <a:prstGeom prst="roundRect">
            <a:avLst>
              <a:gd name="adj" fmla="val 16666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886080" y="3075086"/>
            <a:ext cx="876300" cy="17145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57655" y="3075086"/>
            <a:ext cx="876300" cy="17145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86080" y="3374082"/>
            <a:ext cx="1076325" cy="171450"/>
          </a:xfrm>
          <a:prstGeom prst="roundRect">
            <a:avLst>
              <a:gd name="adj" fmla="val 1666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555" y="5953125"/>
            <a:ext cx="152400" cy="152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680" y="1305817"/>
            <a:ext cx="171450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1343917"/>
            <a:ext cx="152400" cy="1238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57200" y="342900"/>
            <a:ext cx="10688835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CI/CD architecture: DP commit and manual CHANGE_TRIGGER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700980"/>
            <a:ext cx="101798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Editable system boundary map, execution dependencies, and queue structures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0650" y="428625"/>
            <a:ext cx="533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New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28625"/>
            <a:ext cx="7524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Enhance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10825" y="428625"/>
            <a:ext cx="7239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Existing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91875" y="428625"/>
            <a:ext cx="6667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Sunset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81205" y="5886450"/>
            <a:ext cx="350594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100% Shared Execution Logic across automated &amp; manual pipelines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43050" y="1339155"/>
            <a:ext cx="8858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JetBrains Mono"/>
              </a:rPr>
              <a:t>DP commit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81225" y="1310580"/>
            <a:ext cx="4381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09850" y="1120080"/>
            <a:ext cx="551166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75569"/>
                </a:solidFill>
                <a:latin typeface="Inter"/>
              </a:rPr>
              <a:t>GITLAB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38330" y="1272480"/>
            <a:ext cx="338792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Inter"/>
              </a:rPr>
              <a:t>Two entry points, one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850" y="1324867"/>
            <a:ext cx="666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Users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05473" y="1396305"/>
            <a:ext cx="4381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0075" y="1996380"/>
            <a:ext cx="76676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75569"/>
                </a:solidFill>
                <a:latin typeface="Inter"/>
              </a:rPr>
              <a:t>JENKINS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51559" y="2001142"/>
            <a:ext cx="164306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0F172A"/>
                </a:solidFill>
                <a:latin typeface="JetBrains Mono"/>
              </a:rPr>
              <a:t>Trigger &amp; Orchestration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8520" y="2806005"/>
            <a:ext cx="424904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92400E"/>
                </a:solidFill>
                <a:latin typeface="JetBrains Mono"/>
              </a:rPr>
              <a:t>cicd-trigger.ps1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8520" y="2967930"/>
            <a:ext cx="424904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B45309"/>
                </a:solidFill>
                <a:latin typeface="Inter"/>
              </a:rPr>
              <a:t>Shared ProcessDeploymentPlan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6059" y="1996380"/>
            <a:ext cx="2965214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75569"/>
                </a:solidFill>
                <a:latin typeface="Inter"/>
              </a:rPr>
              <a:t>MYSQL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66059" y="2129730"/>
            <a:ext cx="2965214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JetBrains Mono"/>
              </a:rPr>
              <a:t>devops_build_queue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88600" y="2386905"/>
            <a:ext cx="272708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92400E"/>
                </a:solidFill>
                <a:latin typeface="JetBrains Mono"/>
              </a:rPr>
              <a:t>cicd_builds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8600" y="2539305"/>
            <a:ext cx="272708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B45309"/>
                </a:solidFill>
                <a:latin typeface="Inter"/>
              </a:rPr>
              <a:t>+ trigger columns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76694" y="2844105"/>
            <a:ext cx="275090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334155"/>
                </a:solidFill>
                <a:latin typeface="JetBrains Mono"/>
              </a:rPr>
              <a:t>params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76694" y="3148905"/>
            <a:ext cx="275090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334155"/>
                </a:solidFill>
                <a:latin typeface="JetBrains Mono"/>
              </a:rPr>
              <a:t>notifications_queue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76694" y="3453705"/>
            <a:ext cx="275090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334155"/>
                </a:solidFill>
                <a:latin typeface="JetBrains Mono"/>
              </a:rPr>
              <a:t>notifications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76694" y="3758505"/>
            <a:ext cx="275090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334155"/>
                </a:solidFill>
                <a:latin typeface="JetBrains Mono"/>
              </a:rPr>
              <a:t>build_history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43080" y="1624905"/>
            <a:ext cx="3886944" cy="369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1" sz="975" i="0" u="none">
                <a:solidFill>
                  <a:srgbClr val="0F172A"/>
                </a:solidFill>
                <a:latin typeface="Inter"/>
              </a:rPr>
              <a:t>DP changed: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commit with key, GitLab trigger starts the ETL-release job, which calls 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3080" y="2108596"/>
            <a:ext cx="3886944" cy="369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1" sz="975" i="0" u="none">
                <a:solidFill>
                  <a:srgbClr val="0F172A"/>
                </a:solidFill>
                <a:latin typeface="Inter"/>
              </a:rPr>
              <a:t>No DP change: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user runs with a , which calls 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43080" y="2592288"/>
            <a:ext cx="3886944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Both functions call the same </a:t>
            </a:r>
            <a:r>
              <a:rPr b="1" sz="975" i="0" u="none">
                <a:solidFill>
                  <a:srgbClr val="0F172A"/>
                </a:solidFill>
                <a:latin typeface="Inter"/>
              </a:rPr>
              <a:t>ProcessDeploymentPlan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, so validation, DB writes, and notifications are identical.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3080" y="3065561"/>
            <a:ext cx="4448919" cy="184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gets and columns.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43080" y="3364557"/>
            <a:ext cx="4448919" cy="184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Manual promotion, , and refresh are </a:t>
            </a:r>
            <a:r>
              <a:rPr b="1" sz="975" i="0" u="none">
                <a:solidFill>
                  <a:srgbClr val="EF4444"/>
                </a:solidFill>
                <a:latin typeface="Inter"/>
              </a:rPr>
              <a:t>sunset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39584" y="1420117"/>
            <a:ext cx="194090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DP repo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24647" y="1358205"/>
            <a:ext cx="252300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Trigger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24647" y="1501080"/>
            <a:ext cx="2523008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JetBrains Mono"/>
              </a:rPr>
              <a:t>key: sbd-deploy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9782" y="2291655"/>
            <a:ext cx="194592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65F46"/>
                </a:solidFill>
                <a:latin typeface="Inter"/>
              </a:rPr>
              <a:t>CHANGE_TRIGGER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9782" y="2434530"/>
            <a:ext cx="194592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047857"/>
                </a:solidFill>
                <a:latin typeface="Inter"/>
              </a:rPr>
              <a:t>calls getChangeDetails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09899" y="2282130"/>
            <a:ext cx="194592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ETL-release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09899" y="2425005"/>
            <a:ext cx="194592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"/>
              </a:rPr>
              <a:t>calls getTriggerDetails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8097" y="3568005"/>
            <a:ext cx="2219771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50"/>
              </a:lnSpc>
            </a:pPr>
            <a:r>
              <a:rPr b="0" sz="750" i="0" u="none">
                <a:solidFill>
                  <a:srgbClr val="EF4444"/>
                </a:solidFill>
                <a:latin typeface="Inter"/>
              </a:rPr>
              <a:t>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8097" y="4006155"/>
            <a:ext cx="2219771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50"/>
              </a:lnSpc>
            </a:pPr>
            <a:r>
              <a:rPr b="0" sz="750" i="0" u="none">
                <a:solidFill>
                  <a:srgbClr val="EF4444"/>
                </a:solidFill>
                <a:latin typeface="Inter"/>
              </a:rPr>
              <a:t>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24230" y="1643955"/>
            <a:ext cx="952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34155"/>
                </a:solidFill>
                <a:latin typeface="JetBrains Mono"/>
              </a:rPr>
              <a:t>sbd-deploy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95705" y="1828651"/>
            <a:ext cx="14358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34155"/>
                </a:solidFill>
                <a:latin typeface="JetBrains Mono"/>
              </a:rPr>
              <a:t>getTriggerDetails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14705" y="2127646"/>
            <a:ext cx="1219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065F46"/>
                </a:solidFill>
                <a:latin typeface="JetBrains Mono"/>
              </a:rPr>
              <a:t>CHANGE_TRIGGER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52980" y="2127646"/>
            <a:ext cx="8858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34155"/>
                </a:solidFill>
                <a:latin typeface="JetBrains Mono"/>
              </a:rPr>
              <a:t>CHANGE_ID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66980" y="2312342"/>
            <a:ext cx="13525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34155"/>
                </a:solidFill>
                <a:latin typeface="JetBrains Mono"/>
              </a:rPr>
              <a:t>getChangeDetails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81180" y="3084611"/>
            <a:ext cx="10191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92400E"/>
                </a:solidFill>
                <a:latin typeface="JetBrains Mono"/>
              </a:rPr>
              <a:t>cicd_builds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24180" y="3084611"/>
            <a:ext cx="10858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34155"/>
                </a:solidFill>
                <a:latin typeface="JetBrains Mono"/>
              </a:rPr>
              <a:t>trigger_type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95755" y="3084611"/>
            <a:ext cx="10858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34155"/>
                </a:solidFill>
                <a:latin typeface="JetBrains Mono"/>
              </a:rPr>
              <a:t>triggered_by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24180" y="3383607"/>
            <a:ext cx="1285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991B1B"/>
                </a:solidFill>
                <a:latin typeface="JetBrains Mono"/>
              </a:rPr>
              <a:t>candidates.json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5254" y="3329880"/>
            <a:ext cx="200545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991B1B"/>
                </a:solidFill>
                <a:latin typeface="Inter"/>
              </a:rPr>
              <a:t>MANUAL_PROMOTION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5254" y="3768030"/>
            <a:ext cx="200545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991B1B"/>
                </a:solidFill>
                <a:latin typeface="JetBrains Mono"/>
              </a:rPr>
              <a:t>candidates.json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5254" y="4206180"/>
            <a:ext cx="200545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991B1B"/>
                </a:solidFill>
                <a:latin typeface="Inter"/>
              </a:rPr>
              <a:t>REFRESH_CANDIDATES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75371" y="3329880"/>
            <a:ext cx="200545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Inter"/>
              </a:rPr>
              <a:t>Listener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375371" y="3625155"/>
            <a:ext cx="200545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Inter"/>
              </a:rPr>
              <a:t>Notifications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75371" y="3920430"/>
            <a:ext cx="200545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Inter"/>
              </a:rPr>
              <a:t>StatusTracker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75371" y="4215705"/>
            <a:ext cx="200545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Inter"/>
              </a:rPr>
              <a:t>MODEL_RELEASE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95400"/>
            <a:ext cx="5353050" cy="5105400"/>
          </a:xfrm>
          <a:prstGeom prst="roundRect">
            <a:avLst>
              <a:gd name="adj" fmla="val 2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1295400"/>
            <a:ext cx="5353050" cy="5105400"/>
          </a:xfrm>
          <a:prstGeom prst="roundRect">
            <a:avLst>
              <a:gd name="adj" fmla="val 2238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5825" y="5848350"/>
            <a:ext cx="48006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05575" y="5848350"/>
            <a:ext cx="48006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5825" y="5848350"/>
            <a:ext cx="48006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05575" y="5848350"/>
            <a:ext cx="48006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2171700"/>
            <a:ext cx="4800600" cy="581025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825" y="2867025"/>
            <a:ext cx="4800600" cy="581025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5825" y="3562350"/>
            <a:ext cx="4800600" cy="581025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05575" y="2171700"/>
            <a:ext cx="4800600" cy="581025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05575" y="2867025"/>
            <a:ext cx="4800600" cy="581025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5575" y="3562350"/>
            <a:ext cx="4800600" cy="581025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77425" y="1595437"/>
            <a:ext cx="342900" cy="1524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595437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1595437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1681162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1681162"/>
            <a:ext cx="15240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EXECUTION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572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Two Distinct Entry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5972175"/>
            <a:ext cx="6000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Best for:</a:t>
            </a:r>
            <a:r>
              <a:rPr b="0" sz="975" i="0" u="none">
                <a:solidFill>
                  <a:srgbClr val="64748B"/>
                </a:solidFill>
                <a:latin typeface="Inter"/>
              </a:rPr>
              <a:t> Standard code promotion &amp; direct PR merges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5972175"/>
            <a:ext cx="56864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Best for:</a:t>
            </a:r>
            <a:r>
              <a:rPr b="0" sz="975" i="0" u="none">
                <a:solidFill>
                  <a:srgbClr val="64748B"/>
                </a:solidFill>
                <a:latin typeface="Inter"/>
              </a:rPr>
              <a:t> Hotfixes, audited emergency releases &amp; operational patches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3975" y="1571625"/>
            <a:ext cx="261937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Repository push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3975" y="1571625"/>
            <a:ext cx="331291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Path A: Automated DP Commit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50" y="2295525"/>
            <a:ext cx="56911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Trigger 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650" y="2457450"/>
            <a:ext cx="5691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Git commit with </a:t>
            </a:r>
            <a:r>
              <a:rPr b="0" sz="1050" i="0" u="none">
                <a:solidFill>
                  <a:srgbClr val="0284C7"/>
                </a:solidFill>
                <a:latin typeface="Inter"/>
              </a:rPr>
              <a:t>sbd-deploy</a:t>
            </a:r>
            <a:r>
              <a:rPr b="0" sz="1050" i="0" u="none">
                <a:solidFill>
                  <a:srgbClr val="0F172A"/>
                </a:solidFill>
                <a:latin typeface="Inter"/>
              </a:rPr>
              <a:t>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650" y="2990850"/>
            <a:ext cx="56911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Jenkins Initiator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650" y="3152775"/>
            <a:ext cx="5691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ETL-release</a:t>
            </a:r>
            <a:r>
              <a:rPr b="0" sz="1050" i="0" u="none">
                <a:solidFill>
                  <a:srgbClr val="0F172A"/>
                </a:solidFill>
                <a:latin typeface="Inter"/>
              </a:rPr>
              <a:t> job triggered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650" y="3686175"/>
            <a:ext cx="56911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Metadata Function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9650" y="3848100"/>
            <a:ext cx="5691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Executes </a:t>
            </a:r>
            <a:r>
              <a:rPr b="0" sz="1050" i="0" u="none">
                <a:solidFill>
                  <a:srgbClr val="0284C7"/>
                </a:solidFill>
                <a:latin typeface="Inter"/>
              </a:rPr>
              <a:t>getTriggerDetails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3725" y="1809750"/>
            <a:ext cx="1702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Direct user change ticket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295525"/>
            <a:ext cx="55626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Trigger Mechanism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457450"/>
            <a:ext cx="5562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User manually invokes with </a:t>
            </a:r>
            <a:r>
              <a:rPr b="0" sz="1050" i="0" u="none">
                <a:solidFill>
                  <a:srgbClr val="0F172A"/>
                </a:solidFill>
                <a:latin typeface="Inter"/>
              </a:rPr>
              <a:t>CHANGE_ID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990850"/>
            <a:ext cx="55626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Jenkins Initiator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152775"/>
            <a:ext cx="5562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CHANGE_TRIGGER</a:t>
            </a:r>
            <a:r>
              <a:rPr b="0" sz="1050" i="0" u="none">
                <a:solidFill>
                  <a:srgbClr val="0F172A"/>
                </a:solidFill>
                <a:latin typeface="Inter"/>
              </a:rPr>
              <a:t> job invoked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686175"/>
            <a:ext cx="55626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Metadata Function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848100"/>
            <a:ext cx="5562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Executes </a:t>
            </a:r>
            <a:r>
              <a:rPr b="0" sz="1050" i="0" u="none">
                <a:solidFill>
                  <a:srgbClr val="0F172A"/>
                </a:solidFill>
                <a:latin typeface="Inter"/>
              </a:rPr>
              <a:t>getChangeDetails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3725" y="1571625"/>
            <a:ext cx="3750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Path B: Manual CHANGE_TRIGGER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4575" y="161448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F8FAFC"/>
                </a:solidFill>
                <a:latin typeface="Inter"/>
              </a:rPr>
              <a:t>NEW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95400"/>
            <a:ext cx="3505200" cy="5105400"/>
          </a:xfrm>
          <a:prstGeom prst="roundRect">
            <a:avLst>
              <a:gd name="adj" fmla="val 3260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295400"/>
            <a:ext cx="3505200" cy="5105400"/>
          </a:xfrm>
          <a:prstGeom prst="roundRect">
            <a:avLst>
              <a:gd name="adj" fmla="val 3260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295400"/>
            <a:ext cx="3505200" cy="5105400"/>
          </a:xfrm>
          <a:prstGeom prst="roundRect">
            <a:avLst>
              <a:gd name="adj" fmla="val 3260"/>
            </a:avLst>
          </a:prstGeom>
          <a:solidFill>
            <a:srgbClr val="FEF2F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6300" y="5772150"/>
            <a:ext cx="2971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0100" y="5772150"/>
            <a:ext cx="2971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43900" y="5772150"/>
            <a:ext cx="2971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00650" y="2486025"/>
            <a:ext cx="990600" cy="200025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05575" y="2486025"/>
            <a:ext cx="990600" cy="200025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56210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156210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156210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ARCHITECTURE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572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Core Modernization &amp; Sunset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1924050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92400E"/>
                </a:solidFill>
                <a:latin typeface="Inter"/>
              </a:rPr>
              <a:t>Shared Engine: cicd-trigger.ps1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2276475"/>
            <a:ext cx="30670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78350F"/>
                </a:solidFill>
                <a:latin typeface="Inter"/>
              </a:rPr>
              <a:t>Consolidates logic into </a:t>
            </a:r>
            <a:r>
              <a:rPr b="1" sz="1050" i="0" u="none">
                <a:solidFill>
                  <a:srgbClr val="92400E"/>
                </a:solidFill>
                <a:latin typeface="Inter"/>
              </a:rPr>
              <a:t>ProcessDeploymentPlan</a:t>
            </a:r>
            <a:r>
              <a:rPr b="0" sz="1050" i="0" u="none">
                <a:solidFill>
                  <a:srgbClr val="78350F"/>
                </a:solidFill>
                <a:latin typeface="Inter"/>
              </a:rPr>
              <a:t>. Guarantees uniform validation rules, deployment scripts, and notifications regardless of trigger source.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5876925"/>
            <a:ext cx="3357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2400E"/>
                </a:solidFill>
                <a:latin typeface="JetBrains Mono"/>
              </a:rPr>
              <a:t>Zero execution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0100" y="1924050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92400E"/>
                </a:solidFill>
                <a:latin typeface="Inter"/>
              </a:rPr>
              <a:t>MySQL: cicd_builds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2276475"/>
            <a:ext cx="3067050" cy="604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78350F"/>
                </a:solidFill>
                <a:latin typeface="Inter"/>
              </a:rPr>
              <a:t>Schema expanded with dedicated tracking columns: and for end-to-end auditability.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2975" y="5876925"/>
            <a:ext cx="3357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2400E"/>
                </a:solidFill>
                <a:latin typeface="JetBrains Mono"/>
              </a:rPr>
              <a:t>devops_build_queue.cicd_builds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3900" y="1924050"/>
            <a:ext cx="322040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991B1B"/>
                </a:solidFill>
                <a:latin typeface="Inter"/>
              </a:rPr>
              <a:t>Legacy Promotion Decommissioned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3900" y="2495550"/>
            <a:ext cx="30670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7F1D1D"/>
                </a:solidFill>
                <a:latin typeface="Inter"/>
              </a:rPr>
              <a:t>Retiring </a:t>
            </a:r>
            <a:r>
              <a:rPr b="0" sz="1050" i="0" u="none">
                <a:solidFill>
                  <a:srgbClr val="7F1D1D"/>
                </a:solidFill>
                <a:latin typeface="Inter"/>
              </a:rPr>
              <a:t>MANUAL_PROMOTION</a:t>
            </a:r>
            <a:r>
              <a:rPr b="0" sz="1050" i="0" u="none">
                <a:solidFill>
                  <a:srgbClr val="7F1D1D"/>
                </a:solidFill>
                <a:latin typeface="Inter"/>
              </a:rPr>
              <a:t>, intermediate file-based state </a:t>
            </a:r>
            <a:r>
              <a:rPr b="0" sz="1050" i="0" u="none">
                <a:solidFill>
                  <a:srgbClr val="7F1D1D"/>
                </a:solidFill>
                <a:latin typeface="Inter"/>
              </a:rPr>
              <a:t>candidates.json</a:t>
            </a:r>
            <a:r>
              <a:rPr b="0" sz="1050" i="0" u="none">
                <a:solidFill>
                  <a:srgbClr val="7F1D1D"/>
                </a:solidFill>
                <a:latin typeface="Inter"/>
              </a:rPr>
              <a:t>, and </a:t>
            </a:r>
            <a:r>
              <a:rPr b="0" sz="1050" i="0" u="none">
                <a:solidFill>
                  <a:srgbClr val="7F1D1D"/>
                </a:solidFill>
                <a:latin typeface="Inter"/>
              </a:rPr>
              <a:t>REFRESH_CANDIDATES</a:t>
            </a:r>
            <a:r>
              <a:rPr b="0" sz="1050" i="0" u="none">
                <a:solidFill>
                  <a:srgbClr val="7F1D1D"/>
                </a:solidFill>
                <a:latin typeface="Inter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6775" y="5876925"/>
            <a:ext cx="3357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91B1B"/>
                </a:solidFill>
                <a:latin typeface="JetBrains Mono"/>
              </a:rPr>
              <a:t>Replaced by direct CHANGE_TRIGGER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1350" y="1581150"/>
            <a:ext cx="762000" cy="190500"/>
          </a:xfrm>
          <a:prstGeom prst="rect">
            <a:avLst/>
          </a:prstGeom>
          <a:solidFill>
            <a:srgbClr val="FEF3C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2400E"/>
                </a:solidFill>
                <a:latin typeface="Inter"/>
              </a:rPr>
              <a:t>ENHANCE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5150" y="1581150"/>
            <a:ext cx="762000" cy="190500"/>
          </a:xfrm>
          <a:prstGeom prst="rect">
            <a:avLst/>
          </a:prstGeom>
          <a:solidFill>
            <a:srgbClr val="FEF3C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2400E"/>
                </a:solidFill>
                <a:latin typeface="Inter"/>
              </a:rPr>
              <a:t>ENHANCE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8750" y="2505075"/>
            <a:ext cx="1200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78350F"/>
                </a:solidFill>
                <a:latin typeface="JetBrains Mono"/>
              </a:rPr>
              <a:t>trigger_type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3675" y="2505075"/>
            <a:ext cx="1200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78350F"/>
                </a:solidFill>
                <a:latin typeface="JetBrains Mono"/>
              </a:rPr>
              <a:t>triggered_by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1581150"/>
            <a:ext cx="666750" cy="190500"/>
          </a:xfrm>
          <a:prstGeom prst="rect">
            <a:avLst/>
          </a:prstGeom>
          <a:solidFill>
            <a:srgbClr val="FEE2E2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91B1B"/>
                </a:solidFill>
                <a:latin typeface="Inter"/>
              </a:rPr>
              <a:t>SUNSET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81525" y="4233862"/>
            <a:ext cx="3028950" cy="400050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224087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2347912"/>
            <a:ext cx="238125" cy="209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89324" y="2871787"/>
            <a:ext cx="6813351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F8FAFC"/>
                </a:solidFill>
                <a:latin typeface="Inter"/>
              </a:rPr>
              <a:t>CI/CD Unified Engine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5062" y="3452812"/>
            <a:ext cx="73818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Seamless transition to single-engine deployment execution across automated commits and manual triggers.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3406" y="4329112"/>
            <a:ext cx="340518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CBD5E1"/>
                </a:solidFill>
                <a:latin typeface="Inter"/>
              </a:rPr>
              <a:t>Click any text on these slides to edit directly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